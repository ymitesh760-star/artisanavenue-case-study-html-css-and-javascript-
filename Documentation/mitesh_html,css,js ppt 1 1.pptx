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458059-5566-48BF-AD13-4C090FEB59A2}" v="4" dt="2026-03-10T10:09:02.914"/>
    <p1510:client id="{699D5C6E-86AB-4035-A179-F83C212B281A}" v="10" dt="2026-03-10T10:16:34.848"/>
    <p1510:client id="{94EFC1B7-55AB-4DE2-AB4E-DC8844820D7D}" v="81" dt="2026-03-10T09:55:17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CEA1241-3A9D-52A4-84D5-213AFE4E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92DEDA68-22C6-E94A-C33A-77AEB2AC6F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E2A36146-C2CD-330A-BB86-FA6B8BFEB0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8903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015A1EA0-297F-0730-B5C8-3E34592E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90C0236B-A2A0-AA75-28F2-86322214E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EEDC732E-A572-451B-405F-D702CFCA8F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385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6A7FDA9A-F402-83DD-4BD8-C5BBFE41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C20442BB-1153-BCC6-BFAB-1DBA55FC5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025A6FDA-98FE-75F2-ADB6-013752E5DF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6481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/>
            <a:r>
              <a:rPr lang="en-GB" dirty="0">
                <a:solidFill>
                  <a:schemeClr val="lt1"/>
                </a:solidFill>
              </a:rPr>
              <a:t>Artisan Avenue-Custom Furniture Portal</a:t>
            </a:r>
          </a:p>
          <a:p>
            <a:pPr marL="0" indent="0"/>
            <a:r>
              <a:rPr lang="en-GB" sz="1800" b="1" dirty="0">
                <a:solidFill>
                  <a:schemeClr val="lt1"/>
                </a:solidFill>
              </a:rPr>
              <a:t>By Mitesh Yadav</a:t>
            </a: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>
                <a:solidFill>
                  <a:srgbClr val="A81B50"/>
                </a:solidFill>
              </a:rPr>
              <a:t>Problem Statement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14999"/>
              </a:lnSpc>
              <a:buNone/>
            </a:pPr>
            <a:r>
              <a:rPr lang="en-GB" sz="1000" dirty="0"/>
              <a:t>M</a:t>
            </a:r>
            <a:r>
              <a:rPr lang="en-GB" sz="1200" dirty="0"/>
              <a:t>any customers want furniture that matches their </a:t>
            </a:r>
            <a:r>
              <a:rPr lang="en-GB" sz="1200" b="1" dirty="0"/>
              <a:t>home size, design, and preferences</a:t>
            </a:r>
            <a:r>
              <a:rPr lang="en-GB" sz="1200" dirty="0"/>
              <a:t>.</a:t>
            </a:r>
            <a:br>
              <a:rPr lang="en-GB" sz="1200" dirty="0"/>
            </a:br>
            <a:r>
              <a:rPr lang="en-GB" sz="1200" dirty="0"/>
              <a:t> However, most furniture stores only sell </a:t>
            </a:r>
            <a:r>
              <a:rPr lang="en-GB" sz="1200" b="1" dirty="0"/>
              <a:t>pre-made furniture</a:t>
            </a:r>
            <a:r>
              <a:rPr lang="en-GB" sz="1200" dirty="0"/>
              <a:t> that may not fit the customer’s needs.</a:t>
            </a:r>
            <a:endParaRPr lang="en-US" sz="1200" dirty="0"/>
          </a:p>
          <a:p>
            <a:pPr>
              <a:lnSpc>
                <a:spcPct val="114999"/>
              </a:lnSpc>
              <a:buNone/>
            </a:pPr>
            <a:r>
              <a:rPr lang="en-GB" sz="1200" dirty="0"/>
              <a:t>This creates problems such as:</a:t>
            </a:r>
          </a:p>
          <a:p>
            <a:pPr marL="285750" indent="-285750">
              <a:lnSpc>
                <a:spcPct val="114999"/>
              </a:lnSpc>
            </a:pPr>
            <a:r>
              <a:rPr lang="en-GB" sz="1200" dirty="0"/>
              <a:t>Incorrect size for rooms</a:t>
            </a:r>
          </a:p>
          <a:p>
            <a:pPr marL="285750" indent="-285750">
              <a:lnSpc>
                <a:spcPct val="114999"/>
              </a:lnSpc>
            </a:pPr>
            <a:r>
              <a:rPr lang="en-GB" sz="1200" dirty="0"/>
              <a:t>Limited design options</a:t>
            </a:r>
          </a:p>
          <a:p>
            <a:pPr marL="285750" indent="-285750">
              <a:lnSpc>
                <a:spcPct val="114999"/>
              </a:lnSpc>
            </a:pPr>
            <a:r>
              <a:rPr lang="en-GB" sz="1200" dirty="0"/>
              <a:t>Difficulty estimating manufacturing time</a:t>
            </a:r>
          </a:p>
          <a:p>
            <a:pPr marL="285750" indent="-285750">
              <a:lnSpc>
                <a:spcPct val="114999"/>
              </a:lnSpc>
            </a:pPr>
            <a:r>
              <a:rPr lang="en-GB" sz="1200" dirty="0"/>
              <a:t>Lack of customization</a:t>
            </a:r>
          </a:p>
          <a:p>
            <a:pPr indent="0">
              <a:lnSpc>
                <a:spcPct val="114999"/>
              </a:lnSpc>
              <a:buNone/>
            </a:pPr>
            <a:r>
              <a:rPr lang="en-GB" sz="1200" dirty="0"/>
              <a:t>Therefore, a </a:t>
            </a:r>
            <a:r>
              <a:rPr lang="en-GB" sz="1200" b="1" dirty="0"/>
              <a:t>custom furniture portal</a:t>
            </a:r>
            <a:r>
              <a:rPr lang="en-GB" sz="1200" dirty="0"/>
              <a:t> is needed where users can enter dimensions and get an estimated production time.</a:t>
            </a:r>
          </a:p>
          <a:p>
            <a:pPr marL="11430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GB" sz="1200" dirty="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790E2872-7B35-0FAD-62ED-D90006DBA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678F7450-7D95-4BE3-C5C6-42672C331A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b="1" dirty="0">
                <a:solidFill>
                  <a:srgbClr val="A81B50"/>
                </a:solidFill>
              </a:rPr>
              <a:t>Solution</a:t>
            </a: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52F4DE2A-7DC8-BE2B-FFF8-449349FA8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>
              <a:lnSpc>
                <a:spcPct val="114999"/>
              </a:lnSpc>
              <a:buNone/>
            </a:pPr>
            <a:r>
              <a:rPr lang="en-GB" sz="1600" dirty="0"/>
              <a:t>To solve this problem, we developed </a:t>
            </a:r>
            <a:r>
              <a:rPr lang="en-GB" sz="1600" b="1" dirty="0"/>
              <a:t>Artisan Avenue – Custom Furniture Builder</a:t>
            </a:r>
            <a:r>
              <a:rPr lang="en-GB" sz="1600" dirty="0"/>
              <a:t>, a simple web portal.</a:t>
            </a:r>
            <a:endParaRPr lang="en-US" sz="1600"/>
          </a:p>
          <a:p>
            <a:pPr>
              <a:lnSpc>
                <a:spcPct val="114999"/>
              </a:lnSpc>
              <a:buNone/>
            </a:pPr>
            <a:r>
              <a:rPr lang="en-GB" sz="1600" b="1" dirty="0"/>
              <a:t>Features of the solution:</a:t>
            </a:r>
            <a:endParaRPr lang="en-GB" sz="1600" dirty="0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User selects </a:t>
            </a:r>
            <a:r>
              <a:rPr lang="en-GB" sz="1600" b="1" dirty="0"/>
              <a:t>wood type</a:t>
            </a:r>
            <a:r>
              <a:rPr lang="en-GB" sz="1600" dirty="0"/>
              <a:t> (Oak, Teak, Walnut, Maple)</a:t>
            </a:r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User enters </a:t>
            </a:r>
            <a:r>
              <a:rPr lang="en-GB" sz="1600" b="1" dirty="0"/>
              <a:t>length, width, and height</a:t>
            </a:r>
            <a:endParaRPr lang="en-GB" sz="1600" dirty="0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System automatically </a:t>
            </a:r>
            <a:r>
              <a:rPr lang="en-GB" sz="1600" b="1" dirty="0"/>
              <a:t>calculates furniture volume</a:t>
            </a:r>
            <a:endParaRPr lang="en-GB" sz="1600" dirty="0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Portal provides </a:t>
            </a:r>
            <a:r>
              <a:rPr lang="en-GB" sz="1600" b="1" dirty="0"/>
              <a:t>estimated production time</a:t>
            </a:r>
            <a:endParaRPr lang="en-GB" sz="1600" dirty="0"/>
          </a:p>
          <a:p>
            <a:pPr indent="0">
              <a:lnSpc>
                <a:spcPct val="114999"/>
              </a:lnSpc>
              <a:buNone/>
            </a:pPr>
            <a:r>
              <a:rPr lang="en-GB" sz="1600" b="1" dirty="0"/>
              <a:t>Technologies Used:</a:t>
            </a:r>
            <a:endParaRPr lang="en-GB" sz="1600" dirty="0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HTML – Webpage structure</a:t>
            </a:r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CSS – Design and styling</a:t>
            </a:r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JavaScript – Calculation logic</a:t>
            </a:r>
          </a:p>
          <a:p>
            <a:pPr indent="0">
              <a:lnSpc>
                <a:spcPct val="114999"/>
              </a:lnSpc>
              <a:buNone/>
            </a:pPr>
            <a:br>
              <a:rPr lang="en-US" dirty="0"/>
            </a:br>
            <a:endParaRPr lang="en-US" sz="2400"/>
          </a:p>
          <a:p>
            <a:pPr>
              <a:lnSpc>
                <a:spcPct val="114999"/>
              </a:lnSpc>
              <a:buNone/>
            </a:pPr>
            <a:endParaRPr lang="en-GB" sz="1600" dirty="0"/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1EA97E8D-836E-099E-853C-EE94209BA1C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7289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442A8744-4CFB-92A8-EACF-78578A68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0644F3B8-AF4B-E186-5823-A9DC5FF348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dirty="0">
                <a:solidFill>
                  <a:srgbClr val="A81B50"/>
                </a:solidFill>
              </a:rPr>
              <a:t>Working (Method / Mind Map)</a:t>
            </a:r>
            <a:endParaRPr lang="en-US" dirty="0"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27BC89CB-70D7-7DEA-4765-B192F8670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14999"/>
              </a:lnSpc>
              <a:buNone/>
            </a:pPr>
            <a:r>
              <a:rPr lang="en-GB" sz="1600" b="1"/>
              <a:t>Step-by-step working of the system:</a:t>
            </a:r>
            <a:endParaRPr lang="en-US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User opens the </a:t>
            </a:r>
            <a:r>
              <a:rPr lang="en-GB" sz="1600" b="1" dirty="0"/>
              <a:t>Custom Furniture Builder portal</a:t>
            </a:r>
            <a:endParaRPr lang="en-GB" dirty="0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Selects the </a:t>
            </a:r>
            <a:r>
              <a:rPr lang="en-GB" sz="1600" b="1" dirty="0"/>
              <a:t>wood type</a:t>
            </a:r>
            <a:endParaRPr lang="en-GB" dirty="0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Enters the </a:t>
            </a:r>
            <a:r>
              <a:rPr lang="en-GB" sz="1600" b="1" dirty="0"/>
              <a:t>dimensions</a:t>
            </a:r>
            <a:r>
              <a:rPr lang="en-GB" sz="1600" dirty="0"/>
              <a:t> (length, width, height)</a:t>
            </a:r>
            <a:endParaRPr lang="en-GB" dirty="0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System calculates </a:t>
            </a:r>
            <a:r>
              <a:rPr lang="en-GB" sz="1600" b="1" dirty="0"/>
              <a:t>Volume = Length × Width × Height</a:t>
            </a:r>
            <a:endParaRPr lang="en-GB" dirty="0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JavaScript calculates </a:t>
            </a:r>
            <a:r>
              <a:rPr lang="en-GB" sz="1600" b="1" dirty="0"/>
              <a:t>Estimated Lead Time = Volume ÷ 10</a:t>
            </a:r>
            <a:endParaRPr lang="en-GB" dirty="0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Result is displayed as </a:t>
            </a:r>
            <a:r>
              <a:rPr lang="en-GB" sz="1600" b="1" dirty="0"/>
              <a:t>Estimated Days</a:t>
            </a:r>
            <a:endParaRPr lang="en-GB" dirty="0"/>
          </a:p>
          <a:p>
            <a:pPr indent="0">
              <a:lnSpc>
                <a:spcPct val="114999"/>
              </a:lnSpc>
              <a:buNone/>
            </a:pPr>
            <a:r>
              <a:rPr lang="en-GB" sz="1600" dirty="0"/>
              <a:t>You can also show it like a flow:</a:t>
            </a:r>
            <a:endParaRPr lang="en-GB" dirty="0"/>
          </a:p>
          <a:p>
            <a:pPr>
              <a:lnSpc>
                <a:spcPct val="114999"/>
              </a:lnSpc>
              <a:buNone/>
            </a:pPr>
            <a:r>
              <a:rPr lang="en-GB" sz="1600" dirty="0"/>
              <a:t>User Input → Dimension Calculation → Volume Calculation → Lead Time Estimation → Result Display</a:t>
            </a:r>
            <a:endParaRPr lang="en-GB" dirty="0"/>
          </a:p>
          <a:p>
            <a:pPr>
              <a:lnSpc>
                <a:spcPct val="114999"/>
              </a:lnSpc>
              <a:buNone/>
            </a:pPr>
            <a:endParaRPr lang="en-GB" sz="1600" dirty="0"/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012D77C2-42B0-F46B-6F62-45B0ECA2FAC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5016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3BF6127-2829-A07D-F757-D997BE23A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71BDE5AF-9040-7751-14B3-E99B2D0601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dirty="0">
                <a:solidFill>
                  <a:srgbClr val="A81B50"/>
                </a:solidFill>
              </a:rPr>
              <a:t>Conclusion</a:t>
            </a: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A08BCD12-2A34-12AF-023A-B044DFB06A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14999"/>
              </a:lnSpc>
              <a:buNone/>
            </a:pPr>
            <a:r>
              <a:rPr lang="en-GB" sz="1600"/>
              <a:t>The </a:t>
            </a:r>
            <a:r>
              <a:rPr lang="en-GB" sz="1600" b="1"/>
              <a:t>Artisan Avenue Custom Furniture Portal</a:t>
            </a:r>
            <a:r>
              <a:rPr lang="en-GB" sz="1600"/>
              <a:t> simplifies the process of ordering customized furniture.</a:t>
            </a:r>
            <a:endParaRPr lang="en-US"/>
          </a:p>
          <a:p>
            <a:pPr>
              <a:lnSpc>
                <a:spcPct val="114999"/>
              </a:lnSpc>
              <a:buNone/>
            </a:pPr>
            <a:r>
              <a:rPr lang="en-GB" sz="1600" b="1"/>
              <a:t>Benefits:</a:t>
            </a:r>
            <a:endParaRPr lang="en-GB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Easy customization for users</a:t>
            </a:r>
            <a:endParaRPr lang="en-GB" dirty="0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Quick estimation of production time</a:t>
            </a:r>
            <a:endParaRPr lang="en-GB" dirty="0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Simple and user-friendly interface</a:t>
            </a:r>
            <a:endParaRPr lang="en-GB" dirty="0"/>
          </a:p>
          <a:p>
            <a:pPr marL="285750" indent="-285750">
              <a:lnSpc>
                <a:spcPct val="114999"/>
              </a:lnSpc>
            </a:pPr>
            <a:r>
              <a:rPr lang="en-GB" sz="1600" dirty="0"/>
              <a:t>Helps artisans plan furniture production efficiently</a:t>
            </a:r>
            <a:endParaRPr lang="en-GB" dirty="0"/>
          </a:p>
          <a:p>
            <a:pPr indent="0">
              <a:lnSpc>
                <a:spcPct val="114999"/>
              </a:lnSpc>
              <a:buNone/>
            </a:pPr>
            <a:r>
              <a:rPr lang="en-GB" sz="1600" dirty="0"/>
              <a:t>This system improves the </a:t>
            </a:r>
            <a:r>
              <a:rPr lang="en-GB" sz="1600" b="1" dirty="0"/>
              <a:t>customer experience and efficiency of custom furniture design</a:t>
            </a:r>
            <a:r>
              <a:rPr lang="en-GB" sz="1600" dirty="0"/>
              <a:t>.</a:t>
            </a:r>
            <a:endParaRPr lang="en-GB" dirty="0"/>
          </a:p>
          <a:p>
            <a:pPr>
              <a:lnSpc>
                <a:spcPct val="114999"/>
              </a:lnSpc>
              <a:buNone/>
            </a:pPr>
            <a:endParaRPr lang="en-GB" sz="1600" b="1" dirty="0"/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2585CF14-2952-10E3-FEAE-419F683268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9283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Simple Light</vt:lpstr>
      <vt:lpstr>PowerPoint Presentation</vt:lpstr>
      <vt:lpstr>Problem Statement</vt:lpstr>
      <vt:lpstr>Solution</vt:lpstr>
      <vt:lpstr>Working (Method / Mind Map)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28</cp:revision>
  <dcterms:modified xsi:type="dcterms:W3CDTF">2026-03-10T10:16:41Z</dcterms:modified>
</cp:coreProperties>
</file>